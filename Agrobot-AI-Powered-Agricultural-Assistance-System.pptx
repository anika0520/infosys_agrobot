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Geist" pitchFamily="34" charset="0"/>
      <p:bold r:id="rId17"/>
    </p:embeddedFont>
    <p:embeddedFont>
      <p:font typeface="Geist" pitchFamily="34" charset="-122"/>
      <p:bold r:id="rId18"/>
    </p:embeddedFont>
    <p:embeddedFont>
      <p:font typeface="Geist" pitchFamily="34" charset="-120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hyperlink" Target="https://github.com/anika0520/Agrobot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5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8.xml"/><Relationship Id="rId17" Type="http://schemas.openxmlformats.org/officeDocument/2006/relationships/image" Target="../media/image19.png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9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image" Target="../media/image23.png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1.xml"/><Relationship Id="rId14" Type="http://schemas.openxmlformats.org/officeDocument/2006/relationships/image" Target="../media/image25.png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image" Target="../media/image24.png"/><Relationship Id="rId10" Type="http://schemas.openxmlformats.org/officeDocument/2006/relationships/tags" Target="../tags/tag58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530" y="618490"/>
            <a:ext cx="8001000" cy="2105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Agrobot: AI-Powered Agricultural Assistance System</a:t>
            </a:r>
            <a:endParaRPr lang="en-US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72213" y="3060144"/>
            <a:ext cx="7572375" cy="448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Revolutionising Farming with Artificial Intelligence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272213" y="3761661"/>
            <a:ext cx="3673912" cy="1730573"/>
          </a:xfrm>
          <a:prstGeom prst="roundRect">
            <a:avLst>
              <a:gd name="adj" fmla="val 11677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27125" y="4016573"/>
            <a:ext cx="2806660" cy="350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Presented by: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27125" y="4501991"/>
            <a:ext cx="3164086" cy="3592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Anika Gangwar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0557" y="3761661"/>
            <a:ext cx="3674031" cy="1730573"/>
          </a:xfrm>
          <a:prstGeom prst="roundRect">
            <a:avLst>
              <a:gd name="adj" fmla="val 11677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5470" y="4016573"/>
            <a:ext cx="2806660" cy="350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Milestone 4 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Image 1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470" y="4619863"/>
            <a:ext cx="2988112" cy="61745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72213" y="5716667"/>
            <a:ext cx="7572375" cy="1354455"/>
          </a:xfrm>
          <a:prstGeom prst="roundRect">
            <a:avLst>
              <a:gd name="adj" fmla="val 1492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27125" y="5971580"/>
            <a:ext cx="2806660" cy="350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Mentor: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27125" y="6456998"/>
            <a:ext cx="7062549" cy="3592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Eldhose Mathew, Infosys Springboard 6.0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272213" y="7323653"/>
            <a:ext cx="7572375" cy="2874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 with me on </a:t>
            </a:r>
            <a:r>
              <a:rPr lang="en-US" sz="1400" u="sng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LinkedIn</a:t>
            </a: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further collaboration or inquiries.</a:t>
            </a:r>
            <a:endParaRPr lang="en-US" sz="1400" dirty="0"/>
          </a:p>
        </p:txBody>
      </p:sp>
      <p:sp>
        <p:nvSpPr>
          <p:cNvPr id="17" name="Rectangles 16"/>
          <p:cNvSpPr/>
          <p:nvPr/>
        </p:nvSpPr>
        <p:spPr>
          <a:xfrm>
            <a:off x="12906375" y="7611110"/>
            <a:ext cx="1701800" cy="618490"/>
          </a:xfrm>
          <a:prstGeom prst="rect">
            <a:avLst/>
          </a:prstGeom>
          <a:solidFill>
            <a:srgbClr val="DEF4EC"/>
          </a:solidFill>
          <a:ln>
            <a:solidFill>
              <a:srgbClr val="DEF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54" y="551378"/>
            <a:ext cx="10134362" cy="6266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54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Introduction and the Challenge at Hand</a:t>
            </a:r>
            <a:endParaRPr lang="en-US" sz="5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54" y="1704261"/>
            <a:ext cx="4442936" cy="4442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1754" y="6372701"/>
            <a:ext cx="5134451" cy="6415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Crop diseases are a global threat to food security, particularly for small-scale farmers.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32934" y="1659136"/>
            <a:ext cx="7603331" cy="1283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Agrobot is an innovative web application designed to empower farmers by providing AI-driven insights for plant disease identification and prevention. Developed as part of Infosys Springboard 6.0, it addresses critical agricultural needs with a focus on accessibility and scalability.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32934" y="3142655"/>
            <a:ext cx="3007876" cy="3758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6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The Core Problem: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32934" y="3719036"/>
            <a:ext cx="7603331" cy="320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Significant crop losses due to plant diseases globally.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32934" y="4109918"/>
            <a:ext cx="7603331" cy="6415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Lack of timely access to agricultural experts, especially for small-scale farmers.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332934" y="4821555"/>
            <a:ext cx="7603331" cy="6415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Exacerbated by linguistic diversity and limited digital literacy in regions like India.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332934" y="5533192"/>
            <a:ext cx="7603331" cy="320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diagnosis methods are often slow and impractical.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332934" y="6034326"/>
            <a:ext cx="7603331" cy="320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332934" y="6535460"/>
            <a:ext cx="7603331" cy="9622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objective is to develop a real-time, multilingual AI tool that bridges this gap, offering disease diagnosis and prevention advice tailored to local languages and accessible via a user-friendly web interface.</a:t>
            </a:r>
            <a:endParaRPr lang="en-US" sz="1550" dirty="0"/>
          </a:p>
        </p:txBody>
      </p:sp>
      <p:sp>
        <p:nvSpPr>
          <p:cNvPr id="17" name="Rectangles 16"/>
          <p:cNvSpPr/>
          <p:nvPr/>
        </p:nvSpPr>
        <p:spPr>
          <a:xfrm>
            <a:off x="12906375" y="7497445"/>
            <a:ext cx="1701800" cy="618490"/>
          </a:xfrm>
          <a:prstGeom prst="rect">
            <a:avLst/>
          </a:prstGeom>
          <a:solidFill>
            <a:srgbClr val="DEF4EC"/>
          </a:solidFill>
          <a:ln>
            <a:solidFill>
              <a:srgbClr val="DEF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631" y="573405"/>
            <a:ext cx="7705249" cy="626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4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System Architecture Overview</a:t>
            </a:r>
            <a:endParaRPr lang="en-US" sz="4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6188631" y="1501259"/>
            <a:ext cx="7739539" cy="1171337"/>
          </a:xfrm>
          <a:prstGeom prst="roundRect">
            <a:avLst>
              <a:gd name="adj" fmla="val 15418"/>
            </a:avLst>
          </a:prstGeom>
          <a:solidFill>
            <a:srgbClr val="006747"/>
          </a:solidFill>
          <a:ln w="7620">
            <a:solidFill>
              <a:srgbClr val="198060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6396871" y="1709499"/>
            <a:ext cx="2508171" cy="313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Flask Backend</a:t>
            </a:r>
            <a:endParaRPr lang="en-US" sz="19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6396871" y="2143363"/>
            <a:ext cx="7323058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core of our system, managing requests and data processing.</a:t>
            </a:r>
            <a:endParaRPr lang="en-US" sz="1550" dirty="0"/>
          </a:p>
        </p:txBody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6188631" y="2873216"/>
            <a:ext cx="7739539" cy="1171337"/>
          </a:xfrm>
          <a:prstGeom prst="roundRect">
            <a:avLst>
              <a:gd name="adj" fmla="val 15418"/>
            </a:avLst>
          </a:prstGeom>
          <a:solidFill>
            <a:srgbClr val="E5F9F2"/>
          </a:solidFill>
          <a:ln w="7620">
            <a:solidFill>
              <a:srgbClr val="CBDFD8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6396871" y="3081457"/>
            <a:ext cx="2995732" cy="313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TensorFlow CNN Model</a:t>
            </a:r>
            <a:endParaRPr lang="en-US" sz="19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6396871" y="3515320"/>
            <a:ext cx="7323058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Trained on PlantVillage dataset for accurate disease detection.</a:t>
            </a:r>
            <a:endParaRPr lang="en-US" sz="155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188631" y="4245173"/>
            <a:ext cx="7739539" cy="1171337"/>
          </a:xfrm>
          <a:prstGeom prst="roundRect">
            <a:avLst>
              <a:gd name="adj" fmla="val 15418"/>
            </a:avLst>
          </a:prstGeom>
          <a:solidFill>
            <a:srgbClr val="335E23"/>
          </a:solidFill>
          <a:ln w="7620">
            <a:solidFill>
              <a:srgbClr val="4C773C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6396871" y="4453414"/>
            <a:ext cx="2508171" cy="313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NLP Module</a:t>
            </a:r>
            <a:endParaRPr lang="en-US" sz="19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6396871" y="4887278"/>
            <a:ext cx="7323058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Leveraging TF-IDF and IndicTrans2 for multilingual support.</a:t>
            </a:r>
            <a:endParaRPr lang="en-US" sz="1550" dirty="0"/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6188631" y="5617131"/>
            <a:ext cx="7739539" cy="1171337"/>
          </a:xfrm>
          <a:prstGeom prst="roundRect">
            <a:avLst>
              <a:gd name="adj" fmla="val 15418"/>
            </a:avLst>
          </a:prstGeom>
          <a:solidFill>
            <a:srgbClr val="8CAB18"/>
          </a:solidFill>
          <a:ln w="7620">
            <a:solidFill>
              <a:srgbClr val="729100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6396871" y="5825371"/>
            <a:ext cx="2952869" cy="313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SQLAlchemy SQLite DB</a:t>
            </a:r>
            <a:endParaRPr lang="en-US" sz="19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6396871" y="6259235"/>
            <a:ext cx="7323058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secure user management and disease data storage.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188631" y="7014091"/>
            <a:ext cx="7739539" cy="641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follows a client-server model, ensuring a seamless flow from user input to intelligent, translated responses.</a:t>
            </a:r>
            <a:endParaRPr lang="en-US" sz="1550" dirty="0"/>
          </a:p>
        </p:txBody>
      </p:sp>
      <p:sp>
        <p:nvSpPr>
          <p:cNvPr id="17" name="Rectangles 16"/>
          <p:cNvSpPr/>
          <p:nvPr/>
        </p:nvSpPr>
        <p:spPr>
          <a:xfrm>
            <a:off x="12906375" y="7611110"/>
            <a:ext cx="1701800" cy="618490"/>
          </a:xfrm>
          <a:prstGeom prst="rect">
            <a:avLst/>
          </a:prstGeom>
          <a:solidFill>
            <a:srgbClr val="DEF4EC"/>
          </a:solidFill>
          <a:ln>
            <a:solidFill>
              <a:srgbClr val="DEF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143" y="711637"/>
            <a:ext cx="7991713" cy="1028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Implementation Workflow and Data Flow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576143" y="1987510"/>
            <a:ext cx="164544" cy="205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576143" y="2244328"/>
            <a:ext cx="7991713" cy="22860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576143" y="2372320"/>
            <a:ext cx="2110383" cy="257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User Authentication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576143" y="2728198"/>
            <a:ext cx="7991713" cy="263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Secure registration and login via Flask-Login, with role-based access for regular users and admins.</a:t>
            </a:r>
            <a:endParaRPr lang="en-US" sz="125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576143" y="3279577"/>
            <a:ext cx="164544" cy="205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576143" y="3536394"/>
            <a:ext cx="7991713" cy="22860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576143" y="3664387"/>
            <a:ext cx="2057876" cy="257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Chatbot Processing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576143" y="4020264"/>
            <a:ext cx="7991713" cy="5267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 inputs are language-detected, translated (IndicTrans2), and matched against TF-IDF. Images are preprocessed and analysed by the CNN for prediction.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576143" y="4835009"/>
            <a:ext cx="164544" cy="205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576143" y="5091827"/>
            <a:ext cx="7991713" cy="22860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576143" y="5219819"/>
            <a:ext cx="2057876" cy="257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Model Training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576143" y="5575697"/>
            <a:ext cx="7991713" cy="263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train_model.py script handles data augmentation, CNN training, and saving the model as model.h5.</a:t>
            </a:r>
            <a:endParaRPr lang="en-US" sz="1250" dirty="0"/>
          </a:p>
        </p:txBody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576143" y="6127075"/>
            <a:ext cx="164544" cy="205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>
            <p:custDataLst>
              <p:tags r:id="rId15"/>
            </p:custDataLst>
          </p:nvPr>
        </p:nvSpPr>
        <p:spPr>
          <a:xfrm>
            <a:off x="576143" y="6383893"/>
            <a:ext cx="7991713" cy="22860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576143" y="6511885"/>
            <a:ext cx="2354580" cy="257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Multilingual Response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576143" y="6867763"/>
            <a:ext cx="7991713" cy="5267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Disease data from the database is translated and returned to the frontend in the user's preferred language.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20" y="588526"/>
            <a:ext cx="8583335" cy="6554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66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Technology and Tools Employed</a:t>
            </a:r>
            <a:endParaRPr lang="en-US" sz="6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40" y="1179195"/>
            <a:ext cx="2893060" cy="18110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1185545"/>
            <a:ext cx="2889250" cy="180911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165" y="1181100"/>
            <a:ext cx="2889250" cy="180911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365" y="1195705"/>
            <a:ext cx="2895600" cy="18135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880" y="1179195"/>
            <a:ext cx="2888615" cy="180911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9895" y="1198245"/>
            <a:ext cx="2867660" cy="179641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34020" y="3009186"/>
            <a:ext cx="13162359" cy="3356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robust technology stack underpins Agrobot's functionality and performance.</a:t>
            </a:r>
            <a:endParaRPr lang="en-US" sz="1650" dirty="0"/>
          </a:p>
        </p:txBody>
      </p:sp>
      <p:sp>
        <p:nvSpPr>
          <p:cNvPr id="10" name="Shape 2"/>
          <p:cNvSpPr/>
          <p:nvPr/>
        </p:nvSpPr>
        <p:spPr>
          <a:xfrm>
            <a:off x="734020" y="3580686"/>
            <a:ext cx="4247674" cy="1925360"/>
          </a:xfrm>
          <a:prstGeom prst="roundRect">
            <a:avLst>
              <a:gd name="adj" fmla="val 5699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006747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711160" y="3580686"/>
            <a:ext cx="91440" cy="1925360"/>
          </a:xfrm>
          <a:prstGeom prst="roundRect">
            <a:avLst>
              <a:gd name="adj" fmla="val 206435"/>
            </a:avLst>
          </a:prstGeom>
          <a:solidFill>
            <a:srgbClr val="006747"/>
          </a:solidFill>
        </p:spPr>
      </p:sp>
      <p:sp>
        <p:nvSpPr>
          <p:cNvPr id="12" name="Text 4"/>
          <p:cNvSpPr/>
          <p:nvPr/>
        </p:nvSpPr>
        <p:spPr>
          <a:xfrm>
            <a:off x="1035129" y="3813215"/>
            <a:ext cx="2621637" cy="327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Flask Framework</a:t>
            </a:r>
            <a:endParaRPr lang="en-US" sz="2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035129" y="4266605"/>
            <a:ext cx="3714036" cy="6712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lightweight and scalable web framework for rapid development.</a:t>
            </a:r>
            <a:endParaRPr lang="en-US" sz="1650" dirty="0"/>
          </a:p>
        </p:txBody>
      </p:sp>
      <p:sp>
        <p:nvSpPr>
          <p:cNvPr id="14" name="Shape 6"/>
          <p:cNvSpPr/>
          <p:nvPr/>
        </p:nvSpPr>
        <p:spPr>
          <a:xfrm>
            <a:off x="5191363" y="3580686"/>
            <a:ext cx="4247674" cy="1925360"/>
          </a:xfrm>
          <a:prstGeom prst="roundRect">
            <a:avLst>
              <a:gd name="adj" fmla="val 5699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335E23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5168503" y="3580686"/>
            <a:ext cx="91440" cy="1925360"/>
          </a:xfrm>
          <a:prstGeom prst="roundRect">
            <a:avLst>
              <a:gd name="adj" fmla="val 206435"/>
            </a:avLst>
          </a:prstGeom>
          <a:solidFill>
            <a:srgbClr val="335E23"/>
          </a:solidFill>
        </p:spPr>
      </p:sp>
      <p:sp>
        <p:nvSpPr>
          <p:cNvPr id="16" name="Text 8"/>
          <p:cNvSpPr/>
          <p:nvPr/>
        </p:nvSpPr>
        <p:spPr>
          <a:xfrm>
            <a:off x="5492472" y="3813215"/>
            <a:ext cx="2621637" cy="327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TensorFlow</a:t>
            </a:r>
            <a:endParaRPr lang="en-US" sz="2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492472" y="4266605"/>
            <a:ext cx="3714036" cy="1006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Powers the CNN, trained on over 1010 images for precise disease identification.</a:t>
            </a:r>
            <a:endParaRPr lang="en-US" sz="1650" dirty="0"/>
          </a:p>
        </p:txBody>
      </p:sp>
      <p:sp>
        <p:nvSpPr>
          <p:cNvPr id="18" name="Shape 10"/>
          <p:cNvSpPr/>
          <p:nvPr/>
        </p:nvSpPr>
        <p:spPr>
          <a:xfrm>
            <a:off x="9648706" y="3580686"/>
            <a:ext cx="4247674" cy="1925360"/>
          </a:xfrm>
          <a:prstGeom prst="roundRect">
            <a:avLst>
              <a:gd name="adj" fmla="val 5699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8CAB18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9625846" y="3580686"/>
            <a:ext cx="91440" cy="1925360"/>
          </a:xfrm>
          <a:prstGeom prst="roundRect">
            <a:avLst>
              <a:gd name="adj" fmla="val 206435"/>
            </a:avLst>
          </a:prstGeom>
          <a:solidFill>
            <a:srgbClr val="8CAB18"/>
          </a:solidFill>
        </p:spPr>
      </p:sp>
      <p:sp>
        <p:nvSpPr>
          <p:cNvPr id="20" name="Text 12"/>
          <p:cNvSpPr/>
          <p:nvPr/>
        </p:nvSpPr>
        <p:spPr>
          <a:xfrm>
            <a:off x="9949815" y="3813215"/>
            <a:ext cx="2870359" cy="327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TF-IDF &amp; IndicTrans2</a:t>
            </a:r>
            <a:endParaRPr lang="en-US" sz="2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9949815" y="4266605"/>
            <a:ext cx="3714036" cy="6712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sophisticated text analysis and real-time multilingual translations.</a:t>
            </a:r>
            <a:endParaRPr lang="en-US" sz="1650" dirty="0"/>
          </a:p>
        </p:txBody>
      </p:sp>
      <p:sp>
        <p:nvSpPr>
          <p:cNvPr id="22" name="Shape 14"/>
          <p:cNvSpPr/>
          <p:nvPr/>
        </p:nvSpPr>
        <p:spPr>
          <a:xfrm>
            <a:off x="734020" y="5715714"/>
            <a:ext cx="4247674" cy="1925360"/>
          </a:xfrm>
          <a:prstGeom prst="roundRect">
            <a:avLst>
              <a:gd name="adj" fmla="val 5699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00674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11160" y="5715714"/>
            <a:ext cx="91440" cy="1925360"/>
          </a:xfrm>
          <a:prstGeom prst="roundRect">
            <a:avLst>
              <a:gd name="adj" fmla="val 206435"/>
            </a:avLst>
          </a:prstGeom>
          <a:solidFill>
            <a:srgbClr val="006747"/>
          </a:solidFill>
        </p:spPr>
      </p:sp>
      <p:sp>
        <p:nvSpPr>
          <p:cNvPr id="24" name="Text 16"/>
          <p:cNvSpPr/>
          <p:nvPr/>
        </p:nvSpPr>
        <p:spPr>
          <a:xfrm>
            <a:off x="1035129" y="5948243"/>
            <a:ext cx="3303032" cy="327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SQLAlchemy with SQLite</a:t>
            </a:r>
            <a:endParaRPr lang="en-US" sz="2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035129" y="6401633"/>
            <a:ext cx="3714036" cy="1006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flexible ORM for managing user authentication and disease records.</a:t>
            </a:r>
            <a:endParaRPr lang="en-US" sz="1650" dirty="0"/>
          </a:p>
        </p:txBody>
      </p:sp>
      <p:sp>
        <p:nvSpPr>
          <p:cNvPr id="26" name="Shape 18"/>
          <p:cNvSpPr/>
          <p:nvPr/>
        </p:nvSpPr>
        <p:spPr>
          <a:xfrm>
            <a:off x="5191363" y="5715714"/>
            <a:ext cx="4247674" cy="1925360"/>
          </a:xfrm>
          <a:prstGeom prst="roundRect">
            <a:avLst>
              <a:gd name="adj" fmla="val 5699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335E23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168503" y="5715714"/>
            <a:ext cx="91440" cy="1925360"/>
          </a:xfrm>
          <a:prstGeom prst="roundRect">
            <a:avLst>
              <a:gd name="adj" fmla="val 206435"/>
            </a:avLst>
          </a:prstGeom>
          <a:solidFill>
            <a:srgbClr val="335E23"/>
          </a:solidFill>
        </p:spPr>
      </p:sp>
      <p:sp>
        <p:nvSpPr>
          <p:cNvPr id="28" name="Text 20"/>
          <p:cNvSpPr/>
          <p:nvPr/>
        </p:nvSpPr>
        <p:spPr>
          <a:xfrm>
            <a:off x="5492472" y="5948243"/>
            <a:ext cx="2664857" cy="327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PlantVillage Dataset</a:t>
            </a:r>
            <a:endParaRPr lang="en-US" sz="2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5492472" y="6401633"/>
            <a:ext cx="3714036" cy="6712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curated Kaggle dataset, forming the backbone for accurate model training.</a:t>
            </a:r>
            <a:endParaRPr lang="en-US" sz="1650" dirty="0"/>
          </a:p>
        </p:txBody>
      </p:sp>
      <p:sp>
        <p:nvSpPr>
          <p:cNvPr id="30" name="Rectangles 29"/>
          <p:cNvSpPr/>
          <p:nvPr/>
        </p:nvSpPr>
        <p:spPr>
          <a:xfrm>
            <a:off x="12906375" y="7611110"/>
            <a:ext cx="1701800" cy="618490"/>
          </a:xfrm>
          <a:prstGeom prst="rect">
            <a:avLst/>
          </a:prstGeom>
          <a:solidFill>
            <a:srgbClr val="DEF4EC"/>
          </a:solidFill>
          <a:ln>
            <a:solidFill>
              <a:srgbClr val="DEF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796" y="923092"/>
            <a:ext cx="6756678" cy="5855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Rationale Behind the Design</a:t>
            </a:r>
            <a:endParaRPr lang="en-US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6" y="1789628"/>
            <a:ext cx="936903" cy="1379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9984" y="1976914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Scalability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779984" y="2381964"/>
            <a:ext cx="6708219" cy="599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Flask's modular design and lightweight SQLite database ensure easy scaling and optimal performance, even on resource-constrained systems.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" y="3168848"/>
            <a:ext cx="936903" cy="1379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9984" y="3356134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Accuracy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779984" y="3761184"/>
            <a:ext cx="6708219" cy="599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TensorFlow CNN, rigorously trained on a diverse dataset, delivers high precision in image classification, validated through extensive testing.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96" y="4548068"/>
            <a:ext cx="936903" cy="1379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9984" y="4735354"/>
            <a:ext cx="2508052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Multilingual Support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779984" y="5140404"/>
            <a:ext cx="6708219" cy="599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IndicTrans2 seamlessly integrates to provide real-time translations, effectively addressing the diverse linguistic landscape of agricultural communities.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96" y="5927288"/>
            <a:ext cx="936903" cy="13792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79984" y="6114574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Cost-Effectiveness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779984" y="6519624"/>
            <a:ext cx="6708219" cy="599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leveraging open-source tools and datasets, we minimise development costs, making Agrobot an accessible and sustainable solution.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935" y="632698"/>
            <a:ext cx="6466403" cy="55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Competitive Edge of Agrobot</a:t>
            </a:r>
            <a:endParaRPr lang="en-US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05542" y="1403191"/>
            <a:ext cx="8234860" cy="5508625"/>
          </a:xfrm>
          <a:prstGeom prst="roundRect">
            <a:avLst>
              <a:gd name="adj" fmla="val 304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13528" y="1411177"/>
            <a:ext cx="8218887" cy="1149294"/>
          </a:xfrm>
          <a:prstGeom prst="roundRect">
            <a:avLst>
              <a:gd name="adj" fmla="val 14608"/>
            </a:avLst>
          </a:prstGeom>
          <a:solidFill>
            <a:srgbClr val="006747"/>
          </a:solidFill>
        </p:spPr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899961" y="1597611"/>
            <a:ext cx="2452576" cy="291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Hybrid Input System</a:t>
            </a: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821221" y="1888857"/>
            <a:ext cx="7846022" cy="2984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image-based CNN with text-based NLP, offering unparalleled flexibility for</a:t>
            </a:r>
            <a:endParaRPr lang="en-US" sz="1400" dirty="0">
              <a:solidFill>
                <a:srgbClr val="FFFFFF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users.</a:t>
            </a:r>
            <a:endParaRPr lang="en-US" sz="140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713528" y="2560472"/>
            <a:ext cx="8218887" cy="1447786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713528" y="2560472"/>
            <a:ext cx="8218887" cy="23959"/>
          </a:xfrm>
          <a:prstGeom prst="roundRect">
            <a:avLst>
              <a:gd name="adj" fmla="val 700720"/>
            </a:avLst>
          </a:prstGeom>
          <a:solidFill>
            <a:srgbClr val="198060"/>
          </a:solidFill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899961" y="2746904"/>
            <a:ext cx="3458115" cy="291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Extensive Multilingual Reach</a:t>
            </a: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899961" y="3224841"/>
            <a:ext cx="7846022" cy="596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four languages, catering to diverse agricultural communities, a distinct advantage over monolingual tools.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713528" y="4008258"/>
            <a:ext cx="8218887" cy="1447786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713528" y="4008258"/>
            <a:ext cx="8218887" cy="23959"/>
          </a:xfrm>
          <a:prstGeom prst="roundRect">
            <a:avLst>
              <a:gd name="adj" fmla="val 700720"/>
            </a:avLst>
          </a:prstGeom>
          <a:solidFill>
            <a:srgbClr val="198060"/>
          </a:solidFill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899961" y="4194690"/>
            <a:ext cx="3192691" cy="291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Dynamic Admin Flexibility</a:t>
            </a: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899961" y="4672627"/>
            <a:ext cx="7846022" cy="596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admin dashboard allows real-time updates to disease data, ensuring the system remains current without code changes.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713528" y="5456044"/>
            <a:ext cx="8218887" cy="1447786"/>
          </a:xfrm>
          <a:prstGeom prst="rect">
            <a:avLst/>
          </a:prstGeom>
          <a:solidFill>
            <a:srgbClr val="006747"/>
          </a:solidFill>
        </p:spPr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713528" y="5456044"/>
            <a:ext cx="8218887" cy="23959"/>
          </a:xfrm>
          <a:prstGeom prst="roundRect">
            <a:avLst>
              <a:gd name="adj" fmla="val 700720"/>
            </a:avLst>
          </a:prstGeom>
          <a:solidFill>
            <a:srgbClr val="198060"/>
          </a:solidFill>
        </p:spPr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899961" y="5642476"/>
            <a:ext cx="3651660" cy="291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Optimised Resource Efficiency</a:t>
            </a: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899961" y="6120413"/>
            <a:ext cx="7846022" cy="596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lightweight Flask backend and pre-trained model enable deployment on modest hardware, ideal for rural areas.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67150" y="1655921"/>
            <a:ext cx="5093256" cy="50932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2935" y="7312104"/>
            <a:ext cx="13384530" cy="2847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Agrobot stands out by offering comprehensive and adaptive solutions for farmers globally.</a:t>
            </a:r>
            <a:endParaRPr lang="en-US" sz="1400" dirty="0"/>
          </a:p>
        </p:txBody>
      </p:sp>
      <p:sp>
        <p:nvSpPr>
          <p:cNvPr id="21" name="Rectangles 20"/>
          <p:cNvSpPr/>
          <p:nvPr/>
        </p:nvSpPr>
        <p:spPr>
          <a:xfrm>
            <a:off x="12906375" y="7611110"/>
            <a:ext cx="1701800" cy="618490"/>
          </a:xfrm>
          <a:prstGeom prst="rect">
            <a:avLst/>
          </a:prstGeom>
          <a:solidFill>
            <a:srgbClr val="DEF4EC"/>
          </a:solidFill>
          <a:ln>
            <a:solidFill>
              <a:srgbClr val="DEF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957" y="480179"/>
            <a:ext cx="7069812" cy="544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Achievements and Performance</a:t>
            </a:r>
            <a:endParaRPr lang="en-US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09957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8912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7867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36821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5776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54731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63685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72640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1595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90549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957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" name="Shape 12"/>
          <p:cNvSpPr/>
          <p:nvPr/>
        </p:nvSpPr>
        <p:spPr>
          <a:xfrm>
            <a:off x="818912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" name="Shape 13"/>
          <p:cNvSpPr/>
          <p:nvPr/>
        </p:nvSpPr>
        <p:spPr>
          <a:xfrm>
            <a:off x="1027867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" name="Shape 14"/>
          <p:cNvSpPr/>
          <p:nvPr/>
        </p:nvSpPr>
        <p:spPr>
          <a:xfrm>
            <a:off x="1236821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" name="Shape 15"/>
          <p:cNvSpPr/>
          <p:nvPr/>
        </p:nvSpPr>
        <p:spPr>
          <a:xfrm>
            <a:off x="1445776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" name="Shape 16"/>
          <p:cNvSpPr/>
          <p:nvPr/>
        </p:nvSpPr>
        <p:spPr>
          <a:xfrm>
            <a:off x="1654731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" name="Shape 17"/>
          <p:cNvSpPr/>
          <p:nvPr/>
        </p:nvSpPr>
        <p:spPr>
          <a:xfrm>
            <a:off x="1863685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1" name="Shape 18"/>
          <p:cNvSpPr/>
          <p:nvPr/>
        </p:nvSpPr>
        <p:spPr>
          <a:xfrm>
            <a:off x="2072640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2" name="Shape 19"/>
          <p:cNvSpPr/>
          <p:nvPr/>
        </p:nvSpPr>
        <p:spPr>
          <a:xfrm>
            <a:off x="2281595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0549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9957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5" name="Shape 22"/>
          <p:cNvSpPr/>
          <p:nvPr/>
        </p:nvSpPr>
        <p:spPr>
          <a:xfrm>
            <a:off x="818912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6" name="Shape 23"/>
          <p:cNvSpPr/>
          <p:nvPr/>
        </p:nvSpPr>
        <p:spPr>
          <a:xfrm>
            <a:off x="1027867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7" name="Shape 24"/>
          <p:cNvSpPr/>
          <p:nvPr/>
        </p:nvSpPr>
        <p:spPr>
          <a:xfrm>
            <a:off x="1236821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8" name="Shape 25"/>
          <p:cNvSpPr/>
          <p:nvPr/>
        </p:nvSpPr>
        <p:spPr>
          <a:xfrm>
            <a:off x="1445776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9" name="Shape 26"/>
          <p:cNvSpPr/>
          <p:nvPr/>
        </p:nvSpPr>
        <p:spPr>
          <a:xfrm>
            <a:off x="1654731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0" name="Shape 27"/>
          <p:cNvSpPr/>
          <p:nvPr/>
        </p:nvSpPr>
        <p:spPr>
          <a:xfrm>
            <a:off x="1863685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1" name="Shape 28"/>
          <p:cNvSpPr/>
          <p:nvPr/>
        </p:nvSpPr>
        <p:spPr>
          <a:xfrm>
            <a:off x="2072640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2" name="Shape 29"/>
          <p:cNvSpPr/>
          <p:nvPr/>
        </p:nvSpPr>
        <p:spPr>
          <a:xfrm>
            <a:off x="2281595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3" name="Shape 30"/>
          <p:cNvSpPr/>
          <p:nvPr/>
        </p:nvSpPr>
        <p:spPr>
          <a:xfrm>
            <a:off x="2490549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4" name="Shape 31"/>
          <p:cNvSpPr/>
          <p:nvPr/>
        </p:nvSpPr>
        <p:spPr>
          <a:xfrm>
            <a:off x="609957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5" name="Shape 32"/>
          <p:cNvSpPr/>
          <p:nvPr/>
        </p:nvSpPr>
        <p:spPr>
          <a:xfrm>
            <a:off x="818912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6" name="Shape 33"/>
          <p:cNvSpPr/>
          <p:nvPr/>
        </p:nvSpPr>
        <p:spPr>
          <a:xfrm>
            <a:off x="1027867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7" name="Shape 34"/>
          <p:cNvSpPr/>
          <p:nvPr/>
        </p:nvSpPr>
        <p:spPr>
          <a:xfrm>
            <a:off x="1236821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8" name="Shape 35"/>
          <p:cNvSpPr/>
          <p:nvPr/>
        </p:nvSpPr>
        <p:spPr>
          <a:xfrm>
            <a:off x="1445776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39" name="Shape 36"/>
          <p:cNvSpPr/>
          <p:nvPr/>
        </p:nvSpPr>
        <p:spPr>
          <a:xfrm>
            <a:off x="1654731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0" name="Shape 37"/>
          <p:cNvSpPr/>
          <p:nvPr/>
        </p:nvSpPr>
        <p:spPr>
          <a:xfrm>
            <a:off x="1863685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1" name="Shape 38"/>
          <p:cNvSpPr/>
          <p:nvPr/>
        </p:nvSpPr>
        <p:spPr>
          <a:xfrm>
            <a:off x="2072640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2" name="Shape 39"/>
          <p:cNvSpPr/>
          <p:nvPr/>
        </p:nvSpPr>
        <p:spPr>
          <a:xfrm>
            <a:off x="2281595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3" name="Shape 40"/>
          <p:cNvSpPr/>
          <p:nvPr/>
        </p:nvSpPr>
        <p:spPr>
          <a:xfrm>
            <a:off x="2490549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4" name="Shape 41"/>
          <p:cNvSpPr/>
          <p:nvPr/>
        </p:nvSpPr>
        <p:spPr>
          <a:xfrm>
            <a:off x="609957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5" name="Shape 42"/>
          <p:cNvSpPr/>
          <p:nvPr/>
        </p:nvSpPr>
        <p:spPr>
          <a:xfrm>
            <a:off x="818912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6" name="Shape 43"/>
          <p:cNvSpPr/>
          <p:nvPr/>
        </p:nvSpPr>
        <p:spPr>
          <a:xfrm>
            <a:off x="1027867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7" name="Shape 44"/>
          <p:cNvSpPr/>
          <p:nvPr/>
        </p:nvSpPr>
        <p:spPr>
          <a:xfrm>
            <a:off x="1236821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8" name="Shape 45"/>
          <p:cNvSpPr/>
          <p:nvPr/>
        </p:nvSpPr>
        <p:spPr>
          <a:xfrm>
            <a:off x="1445776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49" name="Shape 46"/>
          <p:cNvSpPr/>
          <p:nvPr/>
        </p:nvSpPr>
        <p:spPr>
          <a:xfrm>
            <a:off x="1654731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0" name="Shape 47"/>
          <p:cNvSpPr/>
          <p:nvPr/>
        </p:nvSpPr>
        <p:spPr>
          <a:xfrm>
            <a:off x="1863685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1" name="Shape 48"/>
          <p:cNvSpPr/>
          <p:nvPr/>
        </p:nvSpPr>
        <p:spPr>
          <a:xfrm>
            <a:off x="2072640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2" name="Shape 49"/>
          <p:cNvSpPr/>
          <p:nvPr/>
        </p:nvSpPr>
        <p:spPr>
          <a:xfrm>
            <a:off x="2281595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3" name="Shape 50"/>
          <p:cNvSpPr/>
          <p:nvPr/>
        </p:nvSpPr>
        <p:spPr>
          <a:xfrm>
            <a:off x="2490549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4" name="Shape 51"/>
          <p:cNvSpPr/>
          <p:nvPr/>
        </p:nvSpPr>
        <p:spPr>
          <a:xfrm>
            <a:off x="609957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5" name="Shape 52"/>
          <p:cNvSpPr/>
          <p:nvPr/>
        </p:nvSpPr>
        <p:spPr>
          <a:xfrm>
            <a:off x="818912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6" name="Shape 53"/>
          <p:cNvSpPr/>
          <p:nvPr/>
        </p:nvSpPr>
        <p:spPr>
          <a:xfrm>
            <a:off x="1027867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7" name="Shape 54"/>
          <p:cNvSpPr/>
          <p:nvPr/>
        </p:nvSpPr>
        <p:spPr>
          <a:xfrm>
            <a:off x="1236821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8" name="Shape 55"/>
          <p:cNvSpPr/>
          <p:nvPr/>
        </p:nvSpPr>
        <p:spPr>
          <a:xfrm>
            <a:off x="1445776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59" name="Shape 56"/>
          <p:cNvSpPr/>
          <p:nvPr/>
        </p:nvSpPr>
        <p:spPr>
          <a:xfrm>
            <a:off x="1654731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0" name="Shape 57"/>
          <p:cNvSpPr/>
          <p:nvPr/>
        </p:nvSpPr>
        <p:spPr>
          <a:xfrm>
            <a:off x="1863685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1" name="Shape 58"/>
          <p:cNvSpPr/>
          <p:nvPr/>
        </p:nvSpPr>
        <p:spPr>
          <a:xfrm>
            <a:off x="2072640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2" name="Shape 59"/>
          <p:cNvSpPr/>
          <p:nvPr/>
        </p:nvSpPr>
        <p:spPr>
          <a:xfrm>
            <a:off x="2281595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3" name="Shape 60"/>
          <p:cNvSpPr/>
          <p:nvPr/>
        </p:nvSpPr>
        <p:spPr>
          <a:xfrm>
            <a:off x="2490549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4" name="Shape 61"/>
          <p:cNvSpPr/>
          <p:nvPr/>
        </p:nvSpPr>
        <p:spPr>
          <a:xfrm>
            <a:off x="609957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5" name="Shape 62"/>
          <p:cNvSpPr/>
          <p:nvPr/>
        </p:nvSpPr>
        <p:spPr>
          <a:xfrm>
            <a:off x="818912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6" name="Shape 63"/>
          <p:cNvSpPr/>
          <p:nvPr/>
        </p:nvSpPr>
        <p:spPr>
          <a:xfrm>
            <a:off x="1027867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7" name="Shape 64"/>
          <p:cNvSpPr/>
          <p:nvPr/>
        </p:nvSpPr>
        <p:spPr>
          <a:xfrm>
            <a:off x="1236821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8" name="Shape 65"/>
          <p:cNvSpPr/>
          <p:nvPr/>
        </p:nvSpPr>
        <p:spPr>
          <a:xfrm>
            <a:off x="1445776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69" name="Shape 66"/>
          <p:cNvSpPr/>
          <p:nvPr/>
        </p:nvSpPr>
        <p:spPr>
          <a:xfrm>
            <a:off x="1654731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0" name="Shape 67"/>
          <p:cNvSpPr/>
          <p:nvPr/>
        </p:nvSpPr>
        <p:spPr>
          <a:xfrm>
            <a:off x="1863685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1" name="Shape 68"/>
          <p:cNvSpPr/>
          <p:nvPr/>
        </p:nvSpPr>
        <p:spPr>
          <a:xfrm>
            <a:off x="2072640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2" name="Shape 69"/>
          <p:cNvSpPr/>
          <p:nvPr/>
        </p:nvSpPr>
        <p:spPr>
          <a:xfrm>
            <a:off x="2281595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3" name="Shape 70"/>
          <p:cNvSpPr/>
          <p:nvPr/>
        </p:nvSpPr>
        <p:spPr>
          <a:xfrm>
            <a:off x="2490549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4" name="Shape 71"/>
          <p:cNvSpPr/>
          <p:nvPr/>
        </p:nvSpPr>
        <p:spPr>
          <a:xfrm>
            <a:off x="609957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5" name="Shape 72"/>
          <p:cNvSpPr/>
          <p:nvPr/>
        </p:nvSpPr>
        <p:spPr>
          <a:xfrm>
            <a:off x="818912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6" name="Shape 73"/>
          <p:cNvSpPr/>
          <p:nvPr/>
        </p:nvSpPr>
        <p:spPr>
          <a:xfrm>
            <a:off x="1027867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7" name="Shape 74"/>
          <p:cNvSpPr/>
          <p:nvPr/>
        </p:nvSpPr>
        <p:spPr>
          <a:xfrm>
            <a:off x="1236821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8" name="Shape 75"/>
          <p:cNvSpPr/>
          <p:nvPr/>
        </p:nvSpPr>
        <p:spPr>
          <a:xfrm>
            <a:off x="1445776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79" name="Shape 76"/>
          <p:cNvSpPr/>
          <p:nvPr/>
        </p:nvSpPr>
        <p:spPr>
          <a:xfrm>
            <a:off x="1654731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0" name="Shape 77"/>
          <p:cNvSpPr/>
          <p:nvPr/>
        </p:nvSpPr>
        <p:spPr>
          <a:xfrm>
            <a:off x="1863685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1" name="Shape 78"/>
          <p:cNvSpPr/>
          <p:nvPr/>
        </p:nvSpPr>
        <p:spPr>
          <a:xfrm>
            <a:off x="2072640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2" name="Shape 79"/>
          <p:cNvSpPr/>
          <p:nvPr/>
        </p:nvSpPr>
        <p:spPr>
          <a:xfrm>
            <a:off x="2281595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3" name="Shape 80"/>
          <p:cNvSpPr/>
          <p:nvPr/>
        </p:nvSpPr>
        <p:spPr>
          <a:xfrm>
            <a:off x="2490549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4" name="Shape 81"/>
          <p:cNvSpPr/>
          <p:nvPr/>
        </p:nvSpPr>
        <p:spPr>
          <a:xfrm>
            <a:off x="609957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5" name="Shape 82"/>
          <p:cNvSpPr/>
          <p:nvPr/>
        </p:nvSpPr>
        <p:spPr>
          <a:xfrm>
            <a:off x="818912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6" name="Shape 83"/>
          <p:cNvSpPr/>
          <p:nvPr/>
        </p:nvSpPr>
        <p:spPr>
          <a:xfrm>
            <a:off x="1027867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7" name="Shape 84"/>
          <p:cNvSpPr/>
          <p:nvPr/>
        </p:nvSpPr>
        <p:spPr>
          <a:xfrm>
            <a:off x="1236821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8" name="Shape 85"/>
          <p:cNvSpPr/>
          <p:nvPr/>
        </p:nvSpPr>
        <p:spPr>
          <a:xfrm>
            <a:off x="1445776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89" name="Shape 86"/>
          <p:cNvSpPr/>
          <p:nvPr/>
        </p:nvSpPr>
        <p:spPr>
          <a:xfrm>
            <a:off x="1654731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0" name="Shape 87"/>
          <p:cNvSpPr/>
          <p:nvPr/>
        </p:nvSpPr>
        <p:spPr>
          <a:xfrm>
            <a:off x="1863685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1" name="Shape 88"/>
          <p:cNvSpPr/>
          <p:nvPr/>
        </p:nvSpPr>
        <p:spPr>
          <a:xfrm>
            <a:off x="2072640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2" name="Shape 89"/>
          <p:cNvSpPr/>
          <p:nvPr/>
        </p:nvSpPr>
        <p:spPr>
          <a:xfrm>
            <a:off x="2281595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3" name="Shape 90"/>
          <p:cNvSpPr/>
          <p:nvPr/>
        </p:nvSpPr>
        <p:spPr>
          <a:xfrm>
            <a:off x="2490549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4" name="Shape 91"/>
          <p:cNvSpPr/>
          <p:nvPr/>
        </p:nvSpPr>
        <p:spPr>
          <a:xfrm>
            <a:off x="609957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5" name="Shape 92"/>
          <p:cNvSpPr/>
          <p:nvPr/>
        </p:nvSpPr>
        <p:spPr>
          <a:xfrm>
            <a:off x="818912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6" name="Shape 93"/>
          <p:cNvSpPr/>
          <p:nvPr/>
        </p:nvSpPr>
        <p:spPr>
          <a:xfrm>
            <a:off x="1027867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7" name="Shape 94"/>
          <p:cNvSpPr/>
          <p:nvPr/>
        </p:nvSpPr>
        <p:spPr>
          <a:xfrm>
            <a:off x="1236821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8" name="Shape 95"/>
          <p:cNvSpPr/>
          <p:nvPr/>
        </p:nvSpPr>
        <p:spPr>
          <a:xfrm>
            <a:off x="1445776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99" name="Shape 96"/>
          <p:cNvSpPr/>
          <p:nvPr/>
        </p:nvSpPr>
        <p:spPr>
          <a:xfrm>
            <a:off x="1654731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0" name="Shape 97"/>
          <p:cNvSpPr/>
          <p:nvPr/>
        </p:nvSpPr>
        <p:spPr>
          <a:xfrm>
            <a:off x="1863685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1" name="Shape 98"/>
          <p:cNvSpPr/>
          <p:nvPr/>
        </p:nvSpPr>
        <p:spPr>
          <a:xfrm>
            <a:off x="2072640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2" name="Shape 99"/>
          <p:cNvSpPr/>
          <p:nvPr/>
        </p:nvSpPr>
        <p:spPr>
          <a:xfrm>
            <a:off x="2281595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3" name="Shape 100"/>
          <p:cNvSpPr/>
          <p:nvPr/>
        </p:nvSpPr>
        <p:spPr>
          <a:xfrm>
            <a:off x="2490549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4" name="Text 101"/>
          <p:cNvSpPr/>
          <p:nvPr>
            <p:custDataLst>
              <p:tags r:id="rId2"/>
            </p:custDataLst>
          </p:nvPr>
        </p:nvSpPr>
        <p:spPr>
          <a:xfrm>
            <a:off x="609957" y="3645694"/>
            <a:ext cx="1120973" cy="5228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88%</a:t>
            </a:r>
            <a:endParaRPr lang="en-US" sz="4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Text 102"/>
          <p:cNvSpPr/>
          <p:nvPr>
            <p:custDataLst>
              <p:tags r:id="rId3"/>
            </p:custDataLst>
          </p:nvPr>
        </p:nvSpPr>
        <p:spPr>
          <a:xfrm>
            <a:off x="609957" y="4429720"/>
            <a:ext cx="2178725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Model Accuracy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6" name="Text 103"/>
          <p:cNvSpPr/>
          <p:nvPr>
            <p:custDataLst>
              <p:tags r:id="rId4"/>
            </p:custDataLst>
          </p:nvPr>
        </p:nvSpPr>
        <p:spPr>
          <a:xfrm>
            <a:off x="609957" y="4806553"/>
            <a:ext cx="3853101" cy="8365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Achieved high precision in classifying plant diseases like Tomato Bacterial Spot and Potato Late Blight.</a:t>
            </a:r>
            <a:endParaRPr lang="en-US" sz="1350" dirty="0"/>
          </a:p>
        </p:txBody>
      </p:sp>
      <p:sp>
        <p:nvSpPr>
          <p:cNvPr id="107" name="Shape 104"/>
          <p:cNvSpPr/>
          <p:nvPr/>
        </p:nvSpPr>
        <p:spPr>
          <a:xfrm>
            <a:off x="4680823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8" name="Shape 105"/>
          <p:cNvSpPr/>
          <p:nvPr/>
        </p:nvSpPr>
        <p:spPr>
          <a:xfrm>
            <a:off x="4889778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09" name="Shape 106"/>
          <p:cNvSpPr/>
          <p:nvPr/>
        </p:nvSpPr>
        <p:spPr>
          <a:xfrm>
            <a:off x="5098732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10" name="Shape 107"/>
          <p:cNvSpPr/>
          <p:nvPr/>
        </p:nvSpPr>
        <p:spPr>
          <a:xfrm>
            <a:off x="5307687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11" name="Shape 108"/>
          <p:cNvSpPr/>
          <p:nvPr/>
        </p:nvSpPr>
        <p:spPr>
          <a:xfrm>
            <a:off x="5516642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12" name="Shape 109"/>
          <p:cNvSpPr/>
          <p:nvPr/>
        </p:nvSpPr>
        <p:spPr>
          <a:xfrm>
            <a:off x="5725597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13" name="Shape 110"/>
          <p:cNvSpPr/>
          <p:nvPr/>
        </p:nvSpPr>
        <p:spPr>
          <a:xfrm>
            <a:off x="5934551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6143506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352461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6561415" y="1373267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680823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18" name="Shape 115"/>
          <p:cNvSpPr/>
          <p:nvPr/>
        </p:nvSpPr>
        <p:spPr>
          <a:xfrm>
            <a:off x="4889778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19" name="Shape 116"/>
          <p:cNvSpPr/>
          <p:nvPr/>
        </p:nvSpPr>
        <p:spPr>
          <a:xfrm>
            <a:off x="5098732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0" name="Shape 117"/>
          <p:cNvSpPr/>
          <p:nvPr/>
        </p:nvSpPr>
        <p:spPr>
          <a:xfrm>
            <a:off x="5307687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1" name="Shape 118"/>
          <p:cNvSpPr/>
          <p:nvPr/>
        </p:nvSpPr>
        <p:spPr>
          <a:xfrm>
            <a:off x="5516642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2" name="Shape 119"/>
          <p:cNvSpPr/>
          <p:nvPr/>
        </p:nvSpPr>
        <p:spPr>
          <a:xfrm>
            <a:off x="5725597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3" name="Shape 120"/>
          <p:cNvSpPr/>
          <p:nvPr/>
        </p:nvSpPr>
        <p:spPr>
          <a:xfrm>
            <a:off x="5934551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4" name="Shape 121"/>
          <p:cNvSpPr/>
          <p:nvPr/>
        </p:nvSpPr>
        <p:spPr>
          <a:xfrm>
            <a:off x="6143506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5" name="Shape 122"/>
          <p:cNvSpPr/>
          <p:nvPr/>
        </p:nvSpPr>
        <p:spPr>
          <a:xfrm>
            <a:off x="6352461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6" name="Shape 123"/>
          <p:cNvSpPr/>
          <p:nvPr/>
        </p:nvSpPr>
        <p:spPr>
          <a:xfrm>
            <a:off x="6561415" y="1582222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7" name="Shape 124"/>
          <p:cNvSpPr/>
          <p:nvPr/>
        </p:nvSpPr>
        <p:spPr>
          <a:xfrm>
            <a:off x="4680823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8" name="Shape 125"/>
          <p:cNvSpPr/>
          <p:nvPr/>
        </p:nvSpPr>
        <p:spPr>
          <a:xfrm>
            <a:off x="4889778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29" name="Shape 126"/>
          <p:cNvSpPr/>
          <p:nvPr/>
        </p:nvSpPr>
        <p:spPr>
          <a:xfrm>
            <a:off x="5098732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0" name="Shape 127"/>
          <p:cNvSpPr/>
          <p:nvPr/>
        </p:nvSpPr>
        <p:spPr>
          <a:xfrm>
            <a:off x="5307687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1" name="Shape 128"/>
          <p:cNvSpPr/>
          <p:nvPr/>
        </p:nvSpPr>
        <p:spPr>
          <a:xfrm>
            <a:off x="5516642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2" name="Shape 129"/>
          <p:cNvSpPr/>
          <p:nvPr/>
        </p:nvSpPr>
        <p:spPr>
          <a:xfrm>
            <a:off x="5725597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3" name="Shape 130"/>
          <p:cNvSpPr/>
          <p:nvPr/>
        </p:nvSpPr>
        <p:spPr>
          <a:xfrm>
            <a:off x="5934551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4" name="Shape 131"/>
          <p:cNvSpPr/>
          <p:nvPr/>
        </p:nvSpPr>
        <p:spPr>
          <a:xfrm>
            <a:off x="6143506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5" name="Shape 132"/>
          <p:cNvSpPr/>
          <p:nvPr/>
        </p:nvSpPr>
        <p:spPr>
          <a:xfrm>
            <a:off x="6352461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6" name="Shape 133"/>
          <p:cNvSpPr/>
          <p:nvPr/>
        </p:nvSpPr>
        <p:spPr>
          <a:xfrm>
            <a:off x="6561415" y="179117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7" name="Shape 134"/>
          <p:cNvSpPr/>
          <p:nvPr/>
        </p:nvSpPr>
        <p:spPr>
          <a:xfrm>
            <a:off x="4680823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8" name="Shape 135"/>
          <p:cNvSpPr/>
          <p:nvPr/>
        </p:nvSpPr>
        <p:spPr>
          <a:xfrm>
            <a:off x="4889778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39" name="Shape 136"/>
          <p:cNvSpPr/>
          <p:nvPr/>
        </p:nvSpPr>
        <p:spPr>
          <a:xfrm>
            <a:off x="5098732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0" name="Shape 137"/>
          <p:cNvSpPr/>
          <p:nvPr/>
        </p:nvSpPr>
        <p:spPr>
          <a:xfrm>
            <a:off x="5307687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1" name="Shape 138"/>
          <p:cNvSpPr/>
          <p:nvPr/>
        </p:nvSpPr>
        <p:spPr>
          <a:xfrm>
            <a:off x="5516642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2" name="Shape 139"/>
          <p:cNvSpPr/>
          <p:nvPr/>
        </p:nvSpPr>
        <p:spPr>
          <a:xfrm>
            <a:off x="5725597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3" name="Shape 140"/>
          <p:cNvSpPr/>
          <p:nvPr/>
        </p:nvSpPr>
        <p:spPr>
          <a:xfrm>
            <a:off x="5934551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4" name="Shape 141"/>
          <p:cNvSpPr/>
          <p:nvPr/>
        </p:nvSpPr>
        <p:spPr>
          <a:xfrm>
            <a:off x="6143506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5" name="Shape 142"/>
          <p:cNvSpPr/>
          <p:nvPr/>
        </p:nvSpPr>
        <p:spPr>
          <a:xfrm>
            <a:off x="6352461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6" name="Shape 143"/>
          <p:cNvSpPr/>
          <p:nvPr/>
        </p:nvSpPr>
        <p:spPr>
          <a:xfrm>
            <a:off x="6561415" y="2000131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7" name="Shape 144"/>
          <p:cNvSpPr/>
          <p:nvPr/>
        </p:nvSpPr>
        <p:spPr>
          <a:xfrm>
            <a:off x="4680823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8" name="Shape 145"/>
          <p:cNvSpPr/>
          <p:nvPr/>
        </p:nvSpPr>
        <p:spPr>
          <a:xfrm>
            <a:off x="4889778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49" name="Shape 146"/>
          <p:cNvSpPr/>
          <p:nvPr/>
        </p:nvSpPr>
        <p:spPr>
          <a:xfrm>
            <a:off x="5098732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0" name="Shape 147"/>
          <p:cNvSpPr/>
          <p:nvPr/>
        </p:nvSpPr>
        <p:spPr>
          <a:xfrm>
            <a:off x="5307687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1" name="Shape 148"/>
          <p:cNvSpPr/>
          <p:nvPr/>
        </p:nvSpPr>
        <p:spPr>
          <a:xfrm>
            <a:off x="5516642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2" name="Shape 149"/>
          <p:cNvSpPr/>
          <p:nvPr/>
        </p:nvSpPr>
        <p:spPr>
          <a:xfrm>
            <a:off x="5725597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3" name="Shape 150"/>
          <p:cNvSpPr/>
          <p:nvPr/>
        </p:nvSpPr>
        <p:spPr>
          <a:xfrm>
            <a:off x="5934551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4" name="Shape 151"/>
          <p:cNvSpPr/>
          <p:nvPr/>
        </p:nvSpPr>
        <p:spPr>
          <a:xfrm>
            <a:off x="6143506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5" name="Shape 152"/>
          <p:cNvSpPr/>
          <p:nvPr/>
        </p:nvSpPr>
        <p:spPr>
          <a:xfrm>
            <a:off x="6352461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6" name="Shape 153"/>
          <p:cNvSpPr/>
          <p:nvPr/>
        </p:nvSpPr>
        <p:spPr>
          <a:xfrm>
            <a:off x="6561415" y="2209086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7" name="Shape 154"/>
          <p:cNvSpPr/>
          <p:nvPr/>
        </p:nvSpPr>
        <p:spPr>
          <a:xfrm>
            <a:off x="4680823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8" name="Shape 155"/>
          <p:cNvSpPr/>
          <p:nvPr/>
        </p:nvSpPr>
        <p:spPr>
          <a:xfrm>
            <a:off x="4889778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59" name="Shape 156"/>
          <p:cNvSpPr/>
          <p:nvPr/>
        </p:nvSpPr>
        <p:spPr>
          <a:xfrm>
            <a:off x="5098732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0" name="Shape 157"/>
          <p:cNvSpPr/>
          <p:nvPr/>
        </p:nvSpPr>
        <p:spPr>
          <a:xfrm>
            <a:off x="5307687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1" name="Shape 158"/>
          <p:cNvSpPr/>
          <p:nvPr/>
        </p:nvSpPr>
        <p:spPr>
          <a:xfrm>
            <a:off x="5516642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2" name="Shape 159"/>
          <p:cNvSpPr/>
          <p:nvPr/>
        </p:nvSpPr>
        <p:spPr>
          <a:xfrm>
            <a:off x="5725597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3" name="Shape 160"/>
          <p:cNvSpPr/>
          <p:nvPr/>
        </p:nvSpPr>
        <p:spPr>
          <a:xfrm>
            <a:off x="5934551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4" name="Shape 161"/>
          <p:cNvSpPr/>
          <p:nvPr/>
        </p:nvSpPr>
        <p:spPr>
          <a:xfrm>
            <a:off x="6143506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5" name="Shape 162"/>
          <p:cNvSpPr/>
          <p:nvPr/>
        </p:nvSpPr>
        <p:spPr>
          <a:xfrm>
            <a:off x="6352461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6" name="Shape 163"/>
          <p:cNvSpPr/>
          <p:nvPr/>
        </p:nvSpPr>
        <p:spPr>
          <a:xfrm>
            <a:off x="6561415" y="241804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7" name="Shape 164"/>
          <p:cNvSpPr/>
          <p:nvPr/>
        </p:nvSpPr>
        <p:spPr>
          <a:xfrm>
            <a:off x="4680823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8" name="Shape 165"/>
          <p:cNvSpPr/>
          <p:nvPr/>
        </p:nvSpPr>
        <p:spPr>
          <a:xfrm>
            <a:off x="4889778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69" name="Shape 166"/>
          <p:cNvSpPr/>
          <p:nvPr/>
        </p:nvSpPr>
        <p:spPr>
          <a:xfrm>
            <a:off x="5098732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0" name="Shape 167"/>
          <p:cNvSpPr/>
          <p:nvPr/>
        </p:nvSpPr>
        <p:spPr>
          <a:xfrm>
            <a:off x="5307687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1" name="Shape 168"/>
          <p:cNvSpPr/>
          <p:nvPr/>
        </p:nvSpPr>
        <p:spPr>
          <a:xfrm>
            <a:off x="5516642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2" name="Shape 169"/>
          <p:cNvSpPr/>
          <p:nvPr/>
        </p:nvSpPr>
        <p:spPr>
          <a:xfrm>
            <a:off x="5725597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3" name="Shape 170"/>
          <p:cNvSpPr/>
          <p:nvPr/>
        </p:nvSpPr>
        <p:spPr>
          <a:xfrm>
            <a:off x="5934551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4" name="Shape 171"/>
          <p:cNvSpPr/>
          <p:nvPr/>
        </p:nvSpPr>
        <p:spPr>
          <a:xfrm>
            <a:off x="6143506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5" name="Shape 172"/>
          <p:cNvSpPr/>
          <p:nvPr/>
        </p:nvSpPr>
        <p:spPr>
          <a:xfrm>
            <a:off x="6352461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6" name="Shape 173"/>
          <p:cNvSpPr/>
          <p:nvPr/>
        </p:nvSpPr>
        <p:spPr>
          <a:xfrm>
            <a:off x="6561415" y="2626995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7" name="Shape 174"/>
          <p:cNvSpPr/>
          <p:nvPr/>
        </p:nvSpPr>
        <p:spPr>
          <a:xfrm>
            <a:off x="4680823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8" name="Shape 175"/>
          <p:cNvSpPr/>
          <p:nvPr/>
        </p:nvSpPr>
        <p:spPr>
          <a:xfrm>
            <a:off x="4889778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79" name="Shape 176"/>
          <p:cNvSpPr/>
          <p:nvPr/>
        </p:nvSpPr>
        <p:spPr>
          <a:xfrm>
            <a:off x="5098732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0" name="Shape 177"/>
          <p:cNvSpPr/>
          <p:nvPr/>
        </p:nvSpPr>
        <p:spPr>
          <a:xfrm>
            <a:off x="5307687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1" name="Shape 178"/>
          <p:cNvSpPr/>
          <p:nvPr/>
        </p:nvSpPr>
        <p:spPr>
          <a:xfrm>
            <a:off x="5516642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2" name="Shape 179"/>
          <p:cNvSpPr/>
          <p:nvPr/>
        </p:nvSpPr>
        <p:spPr>
          <a:xfrm>
            <a:off x="5725597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3" name="Shape 180"/>
          <p:cNvSpPr/>
          <p:nvPr/>
        </p:nvSpPr>
        <p:spPr>
          <a:xfrm>
            <a:off x="5934551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4" name="Shape 181"/>
          <p:cNvSpPr/>
          <p:nvPr/>
        </p:nvSpPr>
        <p:spPr>
          <a:xfrm>
            <a:off x="6143506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5" name="Shape 182"/>
          <p:cNvSpPr/>
          <p:nvPr/>
        </p:nvSpPr>
        <p:spPr>
          <a:xfrm>
            <a:off x="6352461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6" name="Shape 183"/>
          <p:cNvSpPr/>
          <p:nvPr/>
        </p:nvSpPr>
        <p:spPr>
          <a:xfrm>
            <a:off x="6561415" y="2835950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7" name="Shape 184"/>
          <p:cNvSpPr/>
          <p:nvPr/>
        </p:nvSpPr>
        <p:spPr>
          <a:xfrm>
            <a:off x="4680823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8" name="Shape 185"/>
          <p:cNvSpPr/>
          <p:nvPr/>
        </p:nvSpPr>
        <p:spPr>
          <a:xfrm>
            <a:off x="4889778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89" name="Shape 186"/>
          <p:cNvSpPr/>
          <p:nvPr/>
        </p:nvSpPr>
        <p:spPr>
          <a:xfrm>
            <a:off x="5098732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0" name="Shape 187"/>
          <p:cNvSpPr/>
          <p:nvPr/>
        </p:nvSpPr>
        <p:spPr>
          <a:xfrm>
            <a:off x="5307687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1" name="Shape 188"/>
          <p:cNvSpPr/>
          <p:nvPr/>
        </p:nvSpPr>
        <p:spPr>
          <a:xfrm>
            <a:off x="5516642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2" name="Shape 189"/>
          <p:cNvSpPr/>
          <p:nvPr/>
        </p:nvSpPr>
        <p:spPr>
          <a:xfrm>
            <a:off x="5725597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3" name="Shape 190"/>
          <p:cNvSpPr/>
          <p:nvPr/>
        </p:nvSpPr>
        <p:spPr>
          <a:xfrm>
            <a:off x="5934551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4" name="Shape 191"/>
          <p:cNvSpPr/>
          <p:nvPr/>
        </p:nvSpPr>
        <p:spPr>
          <a:xfrm>
            <a:off x="6143506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5" name="Shape 192"/>
          <p:cNvSpPr/>
          <p:nvPr/>
        </p:nvSpPr>
        <p:spPr>
          <a:xfrm>
            <a:off x="6352461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6" name="Shape 193"/>
          <p:cNvSpPr/>
          <p:nvPr/>
        </p:nvSpPr>
        <p:spPr>
          <a:xfrm>
            <a:off x="6561415" y="3044904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7" name="Shape 194"/>
          <p:cNvSpPr/>
          <p:nvPr/>
        </p:nvSpPr>
        <p:spPr>
          <a:xfrm>
            <a:off x="4680823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8" name="Shape 195"/>
          <p:cNvSpPr/>
          <p:nvPr/>
        </p:nvSpPr>
        <p:spPr>
          <a:xfrm>
            <a:off x="4889778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199" name="Shape 196"/>
          <p:cNvSpPr/>
          <p:nvPr/>
        </p:nvSpPr>
        <p:spPr>
          <a:xfrm>
            <a:off x="5098732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0" name="Shape 197"/>
          <p:cNvSpPr/>
          <p:nvPr/>
        </p:nvSpPr>
        <p:spPr>
          <a:xfrm>
            <a:off x="5307687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1" name="Shape 198"/>
          <p:cNvSpPr/>
          <p:nvPr/>
        </p:nvSpPr>
        <p:spPr>
          <a:xfrm>
            <a:off x="5516642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2" name="Shape 199"/>
          <p:cNvSpPr/>
          <p:nvPr/>
        </p:nvSpPr>
        <p:spPr>
          <a:xfrm>
            <a:off x="5725597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3" name="Shape 200"/>
          <p:cNvSpPr/>
          <p:nvPr/>
        </p:nvSpPr>
        <p:spPr>
          <a:xfrm>
            <a:off x="5934551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4" name="Shape 201"/>
          <p:cNvSpPr/>
          <p:nvPr/>
        </p:nvSpPr>
        <p:spPr>
          <a:xfrm>
            <a:off x="6143506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5" name="Shape 202"/>
          <p:cNvSpPr/>
          <p:nvPr/>
        </p:nvSpPr>
        <p:spPr>
          <a:xfrm>
            <a:off x="6352461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6" name="Shape 203"/>
          <p:cNvSpPr/>
          <p:nvPr/>
        </p:nvSpPr>
        <p:spPr>
          <a:xfrm>
            <a:off x="6561415" y="3253859"/>
            <a:ext cx="174188" cy="174188"/>
          </a:xfrm>
          <a:prstGeom prst="roundRect">
            <a:avLst>
              <a:gd name="adj" fmla="val 262475"/>
            </a:avLst>
          </a:prstGeom>
          <a:solidFill>
            <a:srgbClr val="006747"/>
          </a:solidFill>
        </p:spPr>
      </p:sp>
      <p:sp>
        <p:nvSpPr>
          <p:cNvPr id="207" name="Text 204"/>
          <p:cNvSpPr/>
          <p:nvPr>
            <p:custDataLst>
              <p:tags r:id="rId5"/>
            </p:custDataLst>
          </p:nvPr>
        </p:nvSpPr>
        <p:spPr>
          <a:xfrm>
            <a:off x="4680823" y="3645694"/>
            <a:ext cx="1120973" cy="5228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96%</a:t>
            </a:r>
            <a:endParaRPr lang="en-US" sz="4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8" name="Text 205"/>
          <p:cNvSpPr/>
          <p:nvPr>
            <p:custDataLst>
              <p:tags r:id="rId6"/>
            </p:custDataLst>
          </p:nvPr>
        </p:nvSpPr>
        <p:spPr>
          <a:xfrm>
            <a:off x="4680823" y="4429720"/>
            <a:ext cx="2393752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Functional Validation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9" name="Text 206"/>
          <p:cNvSpPr/>
          <p:nvPr>
            <p:custDataLst>
              <p:tags r:id="rId7"/>
            </p:custDataLst>
          </p:nvPr>
        </p:nvSpPr>
        <p:spPr>
          <a:xfrm>
            <a:off x="4680823" y="4806553"/>
            <a:ext cx="3853220" cy="8365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Multilingual chatbot and admin dashboard are fully operational and rigorously tested with sample inputs.</a:t>
            </a:r>
            <a:endParaRPr lang="en-US" sz="1350" dirty="0"/>
          </a:p>
        </p:txBody>
      </p:sp>
      <p:sp>
        <p:nvSpPr>
          <p:cNvPr id="210" name="Text 207"/>
          <p:cNvSpPr/>
          <p:nvPr/>
        </p:nvSpPr>
        <p:spPr>
          <a:xfrm>
            <a:off x="609957" y="5904428"/>
            <a:ext cx="2178725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Impact Potential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1" name="Text 208"/>
          <p:cNvSpPr/>
          <p:nvPr/>
        </p:nvSpPr>
        <p:spPr>
          <a:xfrm>
            <a:off x="609957" y="6438067"/>
            <a:ext cx="7924086" cy="557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Offers real-time advice to drastically reduce crop losses, poised for widespread adoption among farmers.</a:t>
            </a:r>
            <a:endParaRPr lang="en-US" sz="1350" dirty="0"/>
          </a:p>
        </p:txBody>
      </p:sp>
      <p:sp>
        <p:nvSpPr>
          <p:cNvPr id="212" name="Text 209"/>
          <p:cNvSpPr/>
          <p:nvPr/>
        </p:nvSpPr>
        <p:spPr>
          <a:xfrm>
            <a:off x="609957" y="7191732"/>
            <a:ext cx="7924086" cy="557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successful training of model.h5 on the PlantVillage dataset underscores our commitment to accuracy and reliability.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60" y="824389"/>
            <a:ext cx="7800856" cy="5966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Summary and Future Directions</a:t>
            </a:r>
            <a:endParaRPr lang="en-US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60570" y="1707356"/>
            <a:ext cx="22860" cy="4872633"/>
          </a:xfrm>
          <a:prstGeom prst="roundRect">
            <a:avLst>
              <a:gd name="adj" fmla="val 751596"/>
            </a:avLst>
          </a:prstGeom>
          <a:solidFill>
            <a:srgbClr val="B7D5CA"/>
          </a:solidFill>
        </p:spPr>
      </p:sp>
      <p:sp>
        <p:nvSpPr>
          <p:cNvPr id="5" name="Shape 2"/>
          <p:cNvSpPr/>
          <p:nvPr/>
        </p:nvSpPr>
        <p:spPr>
          <a:xfrm>
            <a:off x="4213146" y="1910596"/>
            <a:ext cx="381714" cy="22860"/>
          </a:xfrm>
          <a:prstGeom prst="roundRect">
            <a:avLst>
              <a:gd name="adj" fmla="val 751596"/>
            </a:avLst>
          </a:prstGeom>
          <a:solidFill>
            <a:srgbClr val="B7D5CA"/>
          </a:solidFill>
        </p:spPr>
      </p:sp>
      <p:sp>
        <p:nvSpPr>
          <p:cNvPr id="6" name="Shape 3"/>
          <p:cNvSpPr/>
          <p:nvPr/>
        </p:nvSpPr>
        <p:spPr>
          <a:xfrm>
            <a:off x="4500443" y="1850469"/>
            <a:ext cx="143113" cy="143113"/>
          </a:xfrm>
          <a:prstGeom prst="roundRect">
            <a:avLst>
              <a:gd name="adj" fmla="val 319468"/>
            </a:avLst>
          </a:prstGeom>
          <a:solidFill>
            <a:srgbClr val="006747"/>
          </a:solidFill>
        </p:spPr>
      </p:sp>
      <p:sp>
        <p:nvSpPr>
          <p:cNvPr id="7" name="Text 4"/>
          <p:cNvSpPr/>
          <p:nvPr/>
        </p:nvSpPr>
        <p:spPr>
          <a:xfrm>
            <a:off x="1422202" y="1772960"/>
            <a:ext cx="2386251" cy="2982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Conclusion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8060" y="2185749"/>
            <a:ext cx="3140393" cy="1221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Agrobot delivers a practical AI solution for plant disease management, validated through its robust CNN and NLP integration.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49140" y="3055858"/>
            <a:ext cx="381714" cy="22860"/>
          </a:xfrm>
          <a:prstGeom prst="roundRect">
            <a:avLst>
              <a:gd name="adj" fmla="val 751596"/>
            </a:avLst>
          </a:prstGeom>
          <a:solidFill>
            <a:srgbClr val="B7D5CA"/>
          </a:solidFill>
        </p:spPr>
      </p:sp>
      <p:sp>
        <p:nvSpPr>
          <p:cNvPr id="10" name="Shape 7"/>
          <p:cNvSpPr/>
          <p:nvPr/>
        </p:nvSpPr>
        <p:spPr>
          <a:xfrm>
            <a:off x="4500443" y="2995732"/>
            <a:ext cx="143113" cy="143113"/>
          </a:xfrm>
          <a:prstGeom prst="roundRect">
            <a:avLst>
              <a:gd name="adj" fmla="val 319468"/>
            </a:avLst>
          </a:prstGeom>
          <a:solidFill>
            <a:srgbClr val="006747"/>
          </a:solidFill>
        </p:spPr>
      </p:sp>
      <p:sp>
        <p:nvSpPr>
          <p:cNvPr id="11" name="Text 8"/>
          <p:cNvSpPr/>
          <p:nvPr/>
        </p:nvSpPr>
        <p:spPr>
          <a:xfrm>
            <a:off x="5335548" y="2918222"/>
            <a:ext cx="2386251" cy="2982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Website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35548" y="3331012"/>
            <a:ext cx="3140393" cy="1221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Development of a dedicated website for enhanced accessibility and seamless user experience across devices.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13146" y="4096464"/>
            <a:ext cx="381714" cy="22860"/>
          </a:xfrm>
          <a:prstGeom prst="roundRect">
            <a:avLst>
              <a:gd name="adj" fmla="val 751596"/>
            </a:avLst>
          </a:prstGeom>
          <a:solidFill>
            <a:srgbClr val="B7D5CA"/>
          </a:solidFill>
        </p:spPr>
      </p:sp>
      <p:sp>
        <p:nvSpPr>
          <p:cNvPr id="14" name="Shape 11"/>
          <p:cNvSpPr/>
          <p:nvPr/>
        </p:nvSpPr>
        <p:spPr>
          <a:xfrm>
            <a:off x="4500443" y="4036338"/>
            <a:ext cx="143113" cy="143113"/>
          </a:xfrm>
          <a:prstGeom prst="roundRect">
            <a:avLst>
              <a:gd name="adj" fmla="val 319468"/>
            </a:avLst>
          </a:prstGeom>
          <a:solidFill>
            <a:srgbClr val="006747"/>
          </a:solidFill>
        </p:spPr>
      </p:sp>
      <p:sp>
        <p:nvSpPr>
          <p:cNvPr id="15" name="Text 12"/>
          <p:cNvSpPr/>
          <p:nvPr/>
        </p:nvSpPr>
        <p:spPr>
          <a:xfrm>
            <a:off x="726043" y="3958828"/>
            <a:ext cx="3082409" cy="2982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Weather Data Integration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8060" y="4371618"/>
            <a:ext cx="3140393" cy="1221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Incorporating real-time weather data for more accurate disease prediction and prevention strategies.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49140" y="5137071"/>
            <a:ext cx="381714" cy="22860"/>
          </a:xfrm>
          <a:prstGeom prst="roundRect">
            <a:avLst>
              <a:gd name="adj" fmla="val 751596"/>
            </a:avLst>
          </a:prstGeom>
          <a:solidFill>
            <a:srgbClr val="B7D5CA"/>
          </a:solidFill>
        </p:spPr>
      </p:sp>
      <p:sp>
        <p:nvSpPr>
          <p:cNvPr id="18" name="Shape 15"/>
          <p:cNvSpPr/>
          <p:nvPr/>
        </p:nvSpPr>
        <p:spPr>
          <a:xfrm>
            <a:off x="4500443" y="5076944"/>
            <a:ext cx="143113" cy="143113"/>
          </a:xfrm>
          <a:prstGeom prst="roundRect">
            <a:avLst>
              <a:gd name="adj" fmla="val 319468"/>
            </a:avLst>
          </a:prstGeom>
          <a:solidFill>
            <a:srgbClr val="006747"/>
          </a:solidFill>
        </p:spPr>
      </p:sp>
      <p:sp>
        <p:nvSpPr>
          <p:cNvPr id="19" name="Text 16"/>
          <p:cNvSpPr/>
          <p:nvPr/>
        </p:nvSpPr>
        <p:spPr>
          <a:xfrm>
            <a:off x="5335548" y="4999434"/>
            <a:ext cx="2505789" cy="2982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Language Expansion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35548" y="5412224"/>
            <a:ext cx="3140393" cy="9158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Expanding multilingual support to include additional regional and international languages.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8060" y="6794659"/>
            <a:ext cx="7807881" cy="6105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Developed under Eldhose Mathew's mentorship, Agrobot is a testament to innovative agricultural technology with a clear path for future growth.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306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006747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Thank You  </a:t>
            </a:r>
            <a:endParaRPr lang="en-US" sz="6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6280190" y="1752005"/>
            <a:ext cx="3664744" cy="2955250"/>
          </a:xfrm>
          <a:prstGeom prst="roundRect">
            <a:avLst>
              <a:gd name="adj" fmla="val 6908"/>
            </a:avLst>
          </a:prstGeom>
          <a:solidFill>
            <a:srgbClr val="D1EFE4"/>
          </a:solidFill>
          <a:ln w="7620">
            <a:solidFill>
              <a:srgbClr val="006747"/>
            </a:solidFill>
            <a:prstDash val="solid"/>
          </a:ln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6514624" y="198643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</p:spPr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01790" y="2135267"/>
            <a:ext cx="306110" cy="382667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6514624" y="28936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Acknowledgements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6486049" y="3255843"/>
            <a:ext cx="319587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Sincere thanks to PlantVillage dataset contributors, and my mentor Eldhose Mathew Sir.</a:t>
            </a:r>
            <a:endParaRPr lang="en-US" sz="1750" dirty="0"/>
          </a:p>
        </p:txBody>
      </p:sp>
      <p:sp>
        <p:nvSpPr>
          <p:cNvPr id="9" name="Shape 5"/>
          <p:cNvSpPr/>
          <p:nvPr>
            <p:custDataLst>
              <p:tags r:id="rId8"/>
            </p:custDataLst>
          </p:nvPr>
        </p:nvSpPr>
        <p:spPr>
          <a:xfrm>
            <a:off x="10171748" y="1752005"/>
            <a:ext cx="3664863" cy="2955250"/>
          </a:xfrm>
          <a:prstGeom prst="roundRect">
            <a:avLst>
              <a:gd name="adj" fmla="val 6908"/>
            </a:avLst>
          </a:prstGeom>
          <a:solidFill>
            <a:srgbClr val="D1EFE4"/>
          </a:solidFill>
          <a:ln w="7620">
            <a:solidFill>
              <a:srgbClr val="006747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9"/>
            </p:custDataLst>
          </p:nvPr>
        </p:nvSpPr>
        <p:spPr>
          <a:xfrm>
            <a:off x="10406182" y="198643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593348" y="2135267"/>
            <a:ext cx="306110" cy="382667"/>
          </a:xfrm>
          <a:prstGeom prst="rect">
            <a:avLst/>
          </a:prstGeom>
        </p:spPr>
      </p:pic>
      <p:sp>
        <p:nvSpPr>
          <p:cNvPr id="12" name="Text 7"/>
          <p:cNvSpPr/>
          <p:nvPr>
            <p:custDataLst>
              <p:tags r:id="rId12"/>
            </p:custDataLst>
          </p:nvPr>
        </p:nvSpPr>
        <p:spPr>
          <a:xfrm>
            <a:off x="10406182" y="28936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Contact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8"/>
          <p:cNvSpPr/>
          <p:nvPr>
            <p:custDataLst>
              <p:tags r:id="rId13"/>
            </p:custDataLst>
          </p:nvPr>
        </p:nvSpPr>
        <p:spPr>
          <a:xfrm>
            <a:off x="10406817" y="3241873"/>
            <a:ext cx="31959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professional collaboration or further details, connect with me on </a:t>
            </a:r>
            <a:r>
              <a:rPr lang="en-US" sz="1750" u="sng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LinkedIn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80190" y="4934069"/>
            <a:ext cx="7556421" cy="2592348"/>
          </a:xfrm>
          <a:prstGeom prst="roundRect">
            <a:avLst>
              <a:gd name="adj" fmla="val 7875"/>
            </a:avLst>
          </a:prstGeom>
          <a:solidFill>
            <a:srgbClr val="D1EFE4"/>
          </a:solidFill>
          <a:ln w="7620">
            <a:solidFill>
              <a:srgbClr val="00674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14624" y="51685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1790" y="5317331"/>
            <a:ext cx="306110" cy="3826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4624" y="607575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B4A4A"/>
                </a:solidFill>
                <a:latin typeface="Times New Roman" panose="02020603050405020304" charset="0"/>
                <a:ea typeface="Noto Serif SC Bold" pitchFamily="34" charset="-122"/>
                <a:cs typeface="Times New Roman" panose="02020603050405020304" charset="0"/>
              </a:rPr>
              <a:t>Q&amp;A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514624" y="6566178"/>
            <a:ext cx="708755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 welcome any questions or feedback to continue improving this project.</a:t>
            </a:r>
            <a:endParaRPr lang="en-US" sz="1750" dirty="0"/>
          </a:p>
        </p:txBody>
      </p:sp>
      <p:sp>
        <p:nvSpPr>
          <p:cNvPr id="19" name="Rectangles 18"/>
          <p:cNvSpPr/>
          <p:nvPr/>
        </p:nvSpPr>
        <p:spPr>
          <a:xfrm>
            <a:off x="12906375" y="7611110"/>
            <a:ext cx="1701800" cy="618490"/>
          </a:xfrm>
          <a:prstGeom prst="rect">
            <a:avLst/>
          </a:prstGeom>
          <a:solidFill>
            <a:srgbClr val="DEF4EC"/>
          </a:solidFill>
          <a:ln>
            <a:solidFill>
              <a:srgbClr val="DEF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2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3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4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5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6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7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8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9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10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11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12.xml><?xml version="1.0" encoding="utf-8"?>
<p:tagLst xmlns:p="http://schemas.openxmlformats.org/presentationml/2006/main">
  <p:tag name="KSO_WM_DIAGRAM_VIRTUALLY_FRAME" val="{&quot;height&quot;:416.3156692913385,&quot;left&quot;:487.293779527559,&quot;top&quot;:118.20937007874015,&quot;width&quot;:609.4125196850393}"/>
</p:tagLst>
</file>

<file path=ppt/tags/tag13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14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15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16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17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18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19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0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1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2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3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4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5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6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7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8.xml><?xml version="1.0" encoding="utf-8"?>
<p:tagLst xmlns:p="http://schemas.openxmlformats.org/presentationml/2006/main">
  <p:tag name="KSO_WM_DIAGRAM_VIRTUALLY_FRAME" val="{&quot;height&quot;:425.7469291338583,&quot;left&quot;:45.3655905511811,&quot;top&quot;:156.49685039370078,&quot;width&quot;:629.2687401574804}"/>
</p:tagLst>
</file>

<file path=ppt/tags/tag29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0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1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2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3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4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5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6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7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8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39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40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41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42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43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44.xml><?xml version="1.0" encoding="utf-8"?>
<p:tagLst xmlns:p="http://schemas.openxmlformats.org/presentationml/2006/main">
  <p:tag name="KSO_WM_DIAGRAM_VIRTUALLY_FRAME" val="{&quot;height&quot;:433.75,&quot;left&quot;:49.05,&quot;top&quot;:110.4874803149606,&quot;width&quot;:771.515590551181}"/>
</p:tagLst>
</file>

<file path=ppt/tags/tag45.xml><?xml version="1.0" encoding="utf-8"?>
<p:tagLst xmlns:p="http://schemas.openxmlformats.org/presentationml/2006/main">
  <p:tag name="KSO_WM_DIAGRAM_VIRTUALLY_FRAME" val="{&quot;height&quot;:157.27496062992122,&quot;left&quot;:48.02811023622047,&quot;top&quot;:287.0625196850394,&quot;width&quot;:623.9437795275591}"/>
</p:tagLst>
</file>

<file path=ppt/tags/tag46.xml><?xml version="1.0" encoding="utf-8"?>
<p:tagLst xmlns:p="http://schemas.openxmlformats.org/presentationml/2006/main">
  <p:tag name="KSO_WM_DIAGRAM_VIRTUALLY_FRAME" val="{&quot;height&quot;:157.27496062992122,&quot;left&quot;:48.02811023622047,&quot;top&quot;:287.0625196850394,&quot;width&quot;:623.9437795275591}"/>
</p:tagLst>
</file>

<file path=ppt/tags/tag47.xml><?xml version="1.0" encoding="utf-8"?>
<p:tagLst xmlns:p="http://schemas.openxmlformats.org/presentationml/2006/main">
  <p:tag name="KSO_WM_DIAGRAM_VIRTUALLY_FRAME" val="{&quot;height&quot;:157.27496062992122,&quot;left&quot;:48.02811023622047,&quot;top&quot;:287.0625196850394,&quot;width&quot;:623.9437795275591}"/>
</p:tagLst>
</file>

<file path=ppt/tags/tag48.xml><?xml version="1.0" encoding="utf-8"?>
<p:tagLst xmlns:p="http://schemas.openxmlformats.org/presentationml/2006/main">
  <p:tag name="KSO_WM_DIAGRAM_VIRTUALLY_FRAME" val="{&quot;height&quot;:157.27496062992122,&quot;left&quot;:48.02811023622047,&quot;top&quot;:287.0625196850394,&quot;width&quot;:623.9437795275591}"/>
</p:tagLst>
</file>

<file path=ppt/tags/tag49.xml><?xml version="1.0" encoding="utf-8"?>
<p:tagLst xmlns:p="http://schemas.openxmlformats.org/presentationml/2006/main">
  <p:tag name="KSO_WM_DIAGRAM_VIRTUALLY_FRAME" val="{&quot;height&quot;:157.27496062992122,&quot;left&quot;:48.02811023622047,&quot;top&quot;:287.0625196850394,&quot;width&quot;:623.9437795275591}"/>
</p:tagLst>
</file>

<file path=ppt/tags/tag50.xml><?xml version="1.0" encoding="utf-8"?>
<p:tagLst xmlns:p="http://schemas.openxmlformats.org/presentationml/2006/main">
  <p:tag name="KSO_WM_DIAGRAM_VIRTUALLY_FRAME" val="{&quot;height&quot;:157.27496062992122,&quot;left&quot;:48.02811023622047,&quot;top&quot;:287.0625196850394,&quot;width&quot;:623.9437795275591}"/>
</p:tagLst>
</file>

<file path=ppt/tags/tag51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2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3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4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5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6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7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8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59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ags/tag60.xml><?xml version="1.0" encoding="utf-8"?>
<p:tagLst xmlns:p="http://schemas.openxmlformats.org/presentationml/2006/main">
  <p:tag name="KSO_WM_DIAGRAM_VIRTUALLY_FRAME" val="{&quot;height&quot;:232.6968503937008,&quot;left&quot;:494.5031496062992,&quot;top&quot;:137.9531496062992,&quot;width&quot;:594.99377952755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5503</Words>
  <Application>WPS Presentation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Noto Serif SC Bold</vt:lpstr>
      <vt:lpstr>RomanS_IV25</vt:lpstr>
      <vt:lpstr>Noto Serif SC Bold</vt:lpstr>
      <vt:lpstr>Noto Serif SC Bold</vt:lpstr>
      <vt:lpstr>Geist</vt:lpstr>
      <vt:lpstr>Geist</vt:lpstr>
      <vt:lpstr>Geist</vt:lpstr>
      <vt:lpstr>Noto Serif SC Light</vt:lpstr>
      <vt:lpstr>Noto Serif SC Light</vt:lpstr>
      <vt:lpstr>Noto Serif SC Light</vt:lpstr>
      <vt:lpstr>Calibri</vt:lpstr>
      <vt:lpstr>Microsoft YaHei</vt:lpstr>
      <vt:lpstr>Arial Unicode MS</vt:lpstr>
      <vt:lpstr>MingLiU-ExtB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Anika Gangwar</cp:lastModifiedBy>
  <cp:revision>2</cp:revision>
  <dcterms:created xsi:type="dcterms:W3CDTF">2025-10-05T14:17:00Z</dcterms:created>
  <dcterms:modified xsi:type="dcterms:W3CDTF">2025-10-05T14:58:12Z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289236195DC2471081B73BA3D8E64BA4_12</vt:lpwstr>
  </property>
  <property fmtid="{D5CDD505-2E9C-101B-9397-08002B2CF9AE}" pid="3" name="KSOProductBuildVer">
    <vt:lpwstr>1033-12.2.0.22549</vt:lpwstr>
  </property>
</Properties>
</file>